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3" r:id="rId9"/>
    <p:sldId id="264" r:id="rId10"/>
    <p:sldId id="265" r:id="rId11"/>
    <p:sldId id="261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52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8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61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FF9F1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기반 지역 정보 공유 커뮤니티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</a:t>
            </a:r>
            <a:r>
              <a:rPr lang="en-US" sz="64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841248" y="4160520"/>
            <a:ext cx="457200" cy="5486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6반 2조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 err="1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반규리</a:t>
            </a:r>
            <a:r>
              <a:rPr lang="en-US" sz="1200" dirty="0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ko-KR" altLang="en-US" sz="1200" dirty="0" err="1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이미리</a:t>
            </a:r>
            <a:r>
              <a:rPr lang="en-US" sz="1200" dirty="0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ko-KR" altLang="en-US" sz="1200" dirty="0" err="1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이찬희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ln w="1524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758952"/>
            <a:ext cx="502920" cy="502920"/>
          </a:xfrm>
          <a:prstGeom prst="ellipse">
            <a:avLst/>
          </a:prstGeom>
          <a:solidFill>
            <a:srgbClr val="E3F7F5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758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6858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1545336"/>
            <a:ext cx="6035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91640"/>
            <a:ext cx="502920" cy="502920"/>
          </a:xfrm>
          <a:prstGeom prst="ellipse">
            <a:avLst/>
          </a:prstGeom>
          <a:solidFill>
            <a:srgbClr val="E7ECF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61848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및 개발 환경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478024"/>
            <a:ext cx="6035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624328"/>
            <a:ext cx="502920" cy="502920"/>
          </a:xfrm>
          <a:prstGeom prst="ellipse">
            <a:avLst/>
          </a:prstGeom>
          <a:solidFill>
            <a:srgbClr val="E3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551176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&amp; 실제 개발 화면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3410712"/>
            <a:ext cx="6035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3557016"/>
            <a:ext cx="502920" cy="502920"/>
          </a:xfrm>
          <a:prstGeom prst="ellipse">
            <a:avLst/>
          </a:prstGeom>
          <a:solidFill>
            <a:srgbClr val="E7ECF3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48386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(필수/자율)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20640" y="4343400"/>
            <a:ext cx="6035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489704"/>
            <a:ext cx="502920" cy="502920"/>
          </a:xfrm>
          <a:prstGeom prst="ellipse">
            <a:avLst/>
          </a:prstGeom>
          <a:solidFill>
            <a:srgbClr val="E3F7F5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441655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 요구사항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20640" y="5276088"/>
            <a:ext cx="603504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5422392"/>
            <a:ext cx="502920" cy="502920"/>
          </a:xfrm>
          <a:prstGeom prst="ellipse">
            <a:avLst/>
          </a:prstGeom>
          <a:solidFill>
            <a:srgbClr val="E7ECF3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53492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4540"/>
            <a:ext cx="731520" cy="731520"/>
          </a:xfrm>
          <a:prstGeom prst="ellipse">
            <a:avLst/>
          </a:prstGeom>
          <a:solidFill>
            <a:srgbClr val="10315C"/>
          </a:solidFill>
          <a:ln/>
        </p:spPr>
      </p:sp>
      <p:pic>
        <p:nvPicPr>
          <p:cNvPr id="6" name="Image 0" descr="icons/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991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74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2221992"/>
            <a:ext cx="5989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기반 지역 정보 공유 커뮤니티 'LocalHub'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80460"/>
            <a:ext cx="731520" cy="731520"/>
          </a:xfrm>
          <a:prstGeom prst="ellipse">
            <a:avLst/>
          </a:prstGeom>
          <a:solidFill>
            <a:srgbClr val="10315C"/>
          </a:solidFill>
          <a:ln/>
        </p:spPr>
      </p:sp>
      <p:pic>
        <p:nvPicPr>
          <p:cNvPr id="11" name="Image 1" descr="icons/map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8450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권역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74520" y="3867912"/>
            <a:ext cx="5989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38100" dir="5400000" algn="bl" rotWithShape="0">
              <a:srgbClr val="1A2B3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326380"/>
            <a:ext cx="731520" cy="731520"/>
          </a:xfrm>
          <a:prstGeom prst="ellipse">
            <a:avLst/>
          </a:prstGeom>
          <a:solidFill>
            <a:srgbClr val="10315C"/>
          </a:solidFill>
          <a:ln/>
        </p:spPr>
      </p:sp>
      <p:pic>
        <p:nvPicPr>
          <p:cNvPr id="16" name="Image 2" descr="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4909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66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목표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74520" y="5513832"/>
            <a:ext cx="5989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백엔드 서버 없이 브라우저(localStorage)와 프론트엔드 기술만으로 동작하는 익명 커뮤니티 및 AI 챗봇 서비스 구축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366760" y="169164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10315C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9720" y="2606040"/>
            <a:ext cx="1600200" cy="1600200"/>
          </a:xfrm>
          <a:prstGeom prst="ellipse">
            <a:avLst/>
          </a:prstGeom>
          <a:solidFill>
            <a:srgbClr val="E3F7F5">
              <a:alpha val="90000"/>
            </a:srgbClr>
          </a:solidFill>
          <a:ln/>
        </p:spPr>
      </p:sp>
      <p:pic>
        <p:nvPicPr>
          <p:cNvPr id="21" name="Image 3" descr="icons/mappi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06324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66760" y="4434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SEOUL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366760" y="48920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권역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692640" y="5440680"/>
            <a:ext cx="50292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5" name="Text 19"/>
          <p:cNvSpPr/>
          <p:nvPr/>
        </p:nvSpPr>
        <p:spPr>
          <a:xfrm>
            <a:off x="8549640" y="5623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 커뮤니티 × AI 챗봇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&amp;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및 개발 환경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3F7F5"/>
          </a:solidFill>
          <a:ln/>
        </p:spPr>
      </p:sp>
      <p:pic>
        <p:nvPicPr>
          <p:cNvPr id="6" name="Image 0" descr="icons/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프레임워크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227832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Vue.js 3 (Vite)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965960"/>
            <a:ext cx="640080" cy="640080"/>
          </a:xfrm>
          <a:prstGeom prst="ellipse">
            <a:avLst/>
          </a:prstGeom>
          <a:solidFill>
            <a:srgbClr val="E3F7F5"/>
          </a:solidFill>
          <a:ln/>
        </p:spPr>
      </p:sp>
      <p:pic>
        <p:nvPicPr>
          <p:cNvPr id="11" name="Image 1" descr="icons/databas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74320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관리 및 데이터 저장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8576" y="3227832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localStorage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65960"/>
            <a:ext cx="640080" cy="640080"/>
          </a:xfrm>
          <a:prstGeom prst="ellipse">
            <a:avLst/>
          </a:prstGeom>
          <a:solidFill>
            <a:srgbClr val="E3F7F5"/>
          </a:solidFill>
          <a:ln/>
        </p:spPr>
      </p:sp>
      <p:pic>
        <p:nvPicPr>
          <p:cNvPr id="16" name="Image 2" descr="icons/cpu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74320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및 외부 연동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3227832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API (GPT-5 MINI)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438248" y="41148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12568" y="4389120"/>
            <a:ext cx="640080" cy="640080"/>
          </a:xfrm>
          <a:prstGeom prst="ellipse">
            <a:avLst/>
          </a:prstGeom>
          <a:solidFill>
            <a:srgbClr val="E3F7F5"/>
          </a:solidFill>
          <a:ln/>
        </p:spPr>
      </p:sp>
      <p:pic>
        <p:nvPicPr>
          <p:cNvPr id="21" name="Image 3" descr="icons/uploa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8016" y="4544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12568" y="516636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환경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712568" y="5650992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Netlify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23864" y="41148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8184" y="4389120"/>
            <a:ext cx="640080" cy="640080"/>
          </a:xfrm>
          <a:prstGeom prst="ellipse">
            <a:avLst/>
          </a:prstGeom>
          <a:solidFill>
            <a:srgbClr val="E3F7F5"/>
          </a:solidFill>
          <a:ln/>
        </p:spPr>
      </p:sp>
      <p:pic>
        <p:nvPicPr>
          <p:cNvPr id="26" name="Image 4" descr="icons/setting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632" y="45445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98184" y="516636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개발 도구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98184" y="5650992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VSCode Copilot, OpenAI API Key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E29653-026D-4D57-9794-1E78CDAE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15" y="186813"/>
            <a:ext cx="6047770" cy="648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8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49068" y="1527048"/>
            <a:ext cx="5693559" cy="5221224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27000" dist="50800" dir="5400000" algn="bl" rotWithShape="0">
              <a:srgbClr val="1A2B3C">
                <a:alpha val="15000"/>
              </a:srgbClr>
            </a:outerShdw>
          </a:effectLst>
        </p:spPr>
      </p:sp>
      <p:pic>
        <p:nvPicPr>
          <p:cNvPr id="6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660" y="1691640"/>
            <a:ext cx="5364375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 REQUIREMENTS ·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: 커뮤니티 기능 (필수)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8838"/>
              </p:ext>
            </p:extLst>
          </p:nvPr>
        </p:nvGraphicFramePr>
        <p:xfrm>
          <a:off x="548640" y="1600200"/>
          <a:ext cx="11000233" cy="25679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6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205">
                  <a:extLst>
                    <a:ext uri="{9D8B030D-6E8A-4147-A177-3AD203B41FA5}">
                      <a16:colId xmlns:a16="http://schemas.microsoft.com/office/drawing/2014/main" val="1328264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ID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내용 및 구현 방식 (localStorage 활용)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선택한 권역의 전체 게시글 목록 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번호, 제목, 작성일 등 표시 (페이지네이션/스크롤 고려)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제목, 작성일, 본문 내용 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수정, 삭제, 목록으로 돌아가기 버튼 제공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제목, 내용, 수정용 비밀번호 입력 폼 제공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 시 localStorage에 데이터 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버튼 클릭 시 비밀번호 확인 모달 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 시에만 제목/내용 수정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 버튼 클릭 시 비밀번호 확인 모달 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 시 localStorage에서 해당 데이터 영구 삭제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F6BEB3-23E5-4BFE-BB87-16C411AFD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975" y="2053883"/>
            <a:ext cx="3125882" cy="19380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065605-F3DE-4B79-A74B-E4EBA2D1126B}"/>
              </a:ext>
            </a:extLst>
          </p:cNvPr>
          <p:cNvSpPr txBox="1"/>
          <p:nvPr/>
        </p:nvSpPr>
        <p:spPr>
          <a:xfrm>
            <a:off x="3075531" y="4168140"/>
            <a:ext cx="3512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게시판 CRUD (목록/상세/작성/수정/삭제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 REQUIREMENTS · AI CHATBOT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: AI 챗봇 기능 (필수)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00232" cy="11963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ID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내용 및 구현 방식 (OpenAI API 연동)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챗봇 UI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우측 하단 플로팅 버튼(접힘/펼침 상태) 구현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환경 대응 전체 화면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9F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질의응답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제공된 JSON 데이터를 기반으로 한 관광지, 축제 등 정보 응답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히스토리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9F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2B19B0C7-8FE5-4D87-9950-7F1C64C3B364}"/>
              </a:ext>
            </a:extLst>
          </p:cNvPr>
          <p:cNvGrpSpPr/>
          <p:nvPr/>
        </p:nvGrpSpPr>
        <p:grpSpPr>
          <a:xfrm>
            <a:off x="769506" y="5573223"/>
            <a:ext cx="1800629" cy="695490"/>
            <a:chOff x="548640" y="4849471"/>
            <a:chExt cx="3529584" cy="1371600"/>
          </a:xfrm>
        </p:grpSpPr>
        <p:sp>
          <p:nvSpPr>
            <p:cNvPr id="5" name="Shape 2"/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6" name="Shape 3"/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7" name="Image 0" descr="icons/message_amb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플로팅 챗봇 UI</a:t>
              </a:r>
              <a:endParaRPr lang="en-US" sz="135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C157551-2E17-4AAF-AF74-173FC8C85CDE}"/>
              </a:ext>
            </a:extLst>
          </p:cNvPr>
          <p:cNvGrpSpPr/>
          <p:nvPr/>
        </p:nvGrpSpPr>
        <p:grpSpPr>
          <a:xfrm>
            <a:off x="799312" y="3031979"/>
            <a:ext cx="1915220" cy="705174"/>
            <a:chOff x="4334256" y="4830373"/>
            <a:chExt cx="3529584" cy="1390698"/>
          </a:xfrm>
        </p:grpSpPr>
        <p:sp>
          <p:nvSpPr>
            <p:cNvPr id="4" name="Shape 5"/>
            <p:cNvSpPr/>
            <p:nvPr/>
          </p:nvSpPr>
          <p:spPr>
            <a:xfrm>
              <a:off x="4334256" y="4830373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10" name="Shape 6"/>
            <p:cNvSpPr/>
            <p:nvPr/>
          </p:nvSpPr>
          <p:spPr>
            <a:xfrm>
              <a:off x="4544568" y="5241086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11" name="Image 1" descr="icons/cpu_ambe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6592" y="5370679"/>
              <a:ext cx="338328" cy="338328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5385816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GPT-5 MINI 연동</a:t>
              </a:r>
              <a:endParaRPr lang="en-US" sz="1350" dirty="0"/>
            </a:p>
          </p:txBody>
        </p:sp>
      </p:grp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5676F0C-8D58-4247-A90D-6B033C1FCAAB}"/>
              </a:ext>
            </a:extLst>
          </p:cNvPr>
          <p:cNvGrpSpPr/>
          <p:nvPr/>
        </p:nvGrpSpPr>
        <p:grpSpPr>
          <a:xfrm>
            <a:off x="839478" y="4310769"/>
            <a:ext cx="1800629" cy="695490"/>
            <a:chOff x="548640" y="4849471"/>
            <a:chExt cx="3529584" cy="1371600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A8E295D9-56DB-4A79-A2C5-A1289458E197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1D254084-6553-41BA-8432-0552E3B3A845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31" name="Image 0" descr="icons/message_amber.png">
              <a:extLst>
                <a:ext uri="{FF2B5EF4-FFF2-40B4-BE49-F238E27FC236}">
                  <a16:creationId xmlns:a16="http://schemas.microsoft.com/office/drawing/2014/main" id="{D9A55245-FBA2-4E06-9523-3F44F41CE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2C6C81ED-7558-48E3-BC3C-6913BD4F7FBF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캘린더 연동 일정 검색</a:t>
              </a:r>
              <a:endParaRPr lang="en-US" sz="135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E12945B-0004-41C4-9901-E5E607649D08}"/>
              </a:ext>
            </a:extLst>
          </p:cNvPr>
          <p:cNvGrpSpPr/>
          <p:nvPr/>
        </p:nvGrpSpPr>
        <p:grpSpPr>
          <a:xfrm>
            <a:off x="3871583" y="4291615"/>
            <a:ext cx="1800629" cy="695490"/>
            <a:chOff x="548640" y="4849471"/>
            <a:chExt cx="3529584" cy="1371600"/>
          </a:xfrm>
        </p:grpSpPr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D454EDC9-96ED-4B1F-8721-8CA68F8007FE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72E3FA64-30E1-4790-9E84-050C7514E467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36" name="Image 0" descr="icons/message_amber.png">
              <a:extLst>
                <a:ext uri="{FF2B5EF4-FFF2-40B4-BE49-F238E27FC236}">
                  <a16:creationId xmlns:a16="http://schemas.microsoft.com/office/drawing/2014/main" id="{6C2FE778-B8E1-4CFF-BEDF-8C2A047EC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3020F672-87AD-4608-AA58-91CF1BE93677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카테고리 선택 버튼</a:t>
              </a:r>
              <a:endParaRPr lang="en-US" sz="135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D4EF3E4-DAC1-4B39-99E3-2C52296896E9}"/>
              </a:ext>
            </a:extLst>
          </p:cNvPr>
          <p:cNvGrpSpPr/>
          <p:nvPr/>
        </p:nvGrpSpPr>
        <p:grpSpPr>
          <a:xfrm>
            <a:off x="3941555" y="3029161"/>
            <a:ext cx="1800629" cy="695490"/>
            <a:chOff x="548640" y="4849471"/>
            <a:chExt cx="3529584" cy="1371600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41EA4F57-57FE-409D-BDB5-503BC1DCD6AD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389289D9-B35D-444F-B0D4-97A5D0F3B4F6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41" name="Image 0" descr="icons/message_amber.png">
              <a:extLst>
                <a:ext uri="{FF2B5EF4-FFF2-40B4-BE49-F238E27FC236}">
                  <a16:creationId xmlns:a16="http://schemas.microsoft.com/office/drawing/2014/main" id="{7BB295F1-3044-4837-9ECD-1B58B824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3DC607C2-74C1-418A-B9D0-04E880A9250F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히스토리 기억</a:t>
              </a:r>
              <a:endParaRPr lang="en-US" sz="135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64C1964-9A84-4BD4-872B-34AA185A38A2}"/>
              </a:ext>
            </a:extLst>
          </p:cNvPr>
          <p:cNvGrpSpPr/>
          <p:nvPr/>
        </p:nvGrpSpPr>
        <p:grpSpPr>
          <a:xfrm>
            <a:off x="3801611" y="5530487"/>
            <a:ext cx="1800629" cy="695490"/>
            <a:chOff x="548640" y="4849471"/>
            <a:chExt cx="3529584" cy="1371600"/>
          </a:xfrm>
        </p:grpSpPr>
        <p:sp>
          <p:nvSpPr>
            <p:cNvPr id="44" name="Shape 2">
              <a:extLst>
                <a:ext uri="{FF2B5EF4-FFF2-40B4-BE49-F238E27FC236}">
                  <a16:creationId xmlns:a16="http://schemas.microsoft.com/office/drawing/2014/main" id="{0484123F-49FA-400D-A442-69EEC506AF41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3296C738-0135-44D1-B818-52EBA6A39246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46" name="Image 0" descr="icons/message_amber.png">
              <a:extLst>
                <a:ext uri="{FF2B5EF4-FFF2-40B4-BE49-F238E27FC236}">
                  <a16:creationId xmlns:a16="http://schemas.microsoft.com/office/drawing/2014/main" id="{1BE1DE09-C897-49BE-9D26-2204B22E5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B2AE8E57-09E2-4B93-99C5-7F3285FA5A43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대화 클리어 기능</a:t>
              </a:r>
              <a:endParaRPr lang="en-US" sz="1350" dirty="0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A1644AE-4514-4342-B8CD-93C71167A238}"/>
              </a:ext>
            </a:extLst>
          </p:cNvPr>
          <p:cNvGrpSpPr/>
          <p:nvPr/>
        </p:nvGrpSpPr>
        <p:grpSpPr>
          <a:xfrm>
            <a:off x="6729001" y="3011050"/>
            <a:ext cx="1800629" cy="695490"/>
            <a:chOff x="548640" y="4849471"/>
            <a:chExt cx="3529584" cy="1371600"/>
          </a:xfrm>
        </p:grpSpPr>
        <p:sp>
          <p:nvSpPr>
            <p:cNvPr id="49" name="Shape 2">
              <a:extLst>
                <a:ext uri="{FF2B5EF4-FFF2-40B4-BE49-F238E27FC236}">
                  <a16:creationId xmlns:a16="http://schemas.microsoft.com/office/drawing/2014/main" id="{216685E3-BEEE-4DD6-8A1B-79D5E4BB6AAA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AE9ED4E9-B38D-4452-BE29-F7F2B0C15175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51" name="Image 0" descr="icons/message_amber.png">
              <a:extLst>
                <a:ext uri="{FF2B5EF4-FFF2-40B4-BE49-F238E27FC236}">
                  <a16:creationId xmlns:a16="http://schemas.microsoft.com/office/drawing/2014/main" id="{8AA5B87C-B99E-41FD-8FD8-0DB07E4B3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52" name="Text 4">
              <a:extLst>
                <a:ext uri="{FF2B5EF4-FFF2-40B4-BE49-F238E27FC236}">
                  <a16:creationId xmlns:a16="http://schemas.microsoft.com/office/drawing/2014/main" id="{285C9553-20EC-4FCF-B4DF-D9B9F2BBD494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AI </a:t>
              </a:r>
              <a:r>
                <a:rPr lang="ko-KR" altLang="en-US" sz="1350" b="1" dirty="0">
                  <a:solidFill>
                    <a:srgbClr val="10315C"/>
                  </a:solidFill>
                  <a:latin typeface="맑은 고딕" pitchFamily="34" charset="0"/>
                  <a:ea typeface="맑은 고딕" pitchFamily="34" charset="-122"/>
                </a:rPr>
                <a:t>연동 여부 확인 기능</a:t>
              </a:r>
              <a:endParaRPr lang="en-US" sz="135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4D94E86-ABD3-46CE-AF35-1C1598FDDDF1}"/>
              </a:ext>
            </a:extLst>
          </p:cNvPr>
          <p:cNvGrpSpPr/>
          <p:nvPr/>
        </p:nvGrpSpPr>
        <p:grpSpPr>
          <a:xfrm>
            <a:off x="6724401" y="4291615"/>
            <a:ext cx="2242618" cy="695490"/>
            <a:chOff x="548640" y="4849471"/>
            <a:chExt cx="3529584" cy="1371600"/>
          </a:xfrm>
        </p:grpSpPr>
        <p:sp>
          <p:nvSpPr>
            <p:cNvPr id="54" name="Shape 2">
              <a:extLst>
                <a:ext uri="{FF2B5EF4-FFF2-40B4-BE49-F238E27FC236}">
                  <a16:creationId xmlns:a16="http://schemas.microsoft.com/office/drawing/2014/main" id="{5FA0B8EE-995F-4284-8E50-017DBC4D43BD}"/>
                </a:ext>
              </a:extLst>
            </p:cNvPr>
            <p:cNvSpPr/>
            <p:nvPr/>
          </p:nvSpPr>
          <p:spPr>
            <a:xfrm>
              <a:off x="548640" y="4849471"/>
              <a:ext cx="3529584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2700">
              <a:solidFill>
                <a:srgbClr val="E4E9F0"/>
              </a:solidFill>
              <a:prstDash val="solid"/>
            </a:ln>
            <a:effectLst>
              <a:outerShdw blurRad="76200" dist="25400" dir="5400000" algn="bl" rotWithShape="0">
                <a:srgbClr val="1A2B3C">
                  <a:alpha val="10000"/>
                </a:srgbClr>
              </a:outerShdw>
            </a:effectLst>
          </p:spPr>
        </p:sp>
        <p:sp>
          <p:nvSpPr>
            <p:cNvPr id="55" name="Shape 3">
              <a:extLst>
                <a:ext uri="{FF2B5EF4-FFF2-40B4-BE49-F238E27FC236}">
                  <a16:creationId xmlns:a16="http://schemas.microsoft.com/office/drawing/2014/main" id="{EA955A04-1798-4EE5-8A7C-C74AF68D9EEA}"/>
                </a:ext>
              </a:extLst>
            </p:cNvPr>
            <p:cNvSpPr/>
            <p:nvPr/>
          </p:nvSpPr>
          <p:spPr>
            <a:xfrm>
              <a:off x="777240" y="5196943"/>
              <a:ext cx="685800" cy="685800"/>
            </a:xfrm>
            <a:prstGeom prst="ellipse">
              <a:avLst/>
            </a:prstGeom>
            <a:solidFill>
              <a:srgbClr val="FFF1DC"/>
            </a:solidFill>
            <a:ln/>
          </p:spPr>
        </p:sp>
        <p:pic>
          <p:nvPicPr>
            <p:cNvPr id="56" name="Image 0" descr="icons/message_amber.png">
              <a:extLst>
                <a:ext uri="{FF2B5EF4-FFF2-40B4-BE49-F238E27FC236}">
                  <a16:creationId xmlns:a16="http://schemas.microsoft.com/office/drawing/2014/main" id="{C6C37CE3-D49F-4975-9582-483BB527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976" y="5370679"/>
              <a:ext cx="338328" cy="338328"/>
            </a:xfrm>
            <a:prstGeom prst="rect">
              <a:avLst/>
            </a:prstGeom>
          </p:spPr>
        </p:pic>
        <p:sp>
          <p:nvSpPr>
            <p:cNvPr id="57" name="Text 4">
              <a:extLst>
                <a:ext uri="{FF2B5EF4-FFF2-40B4-BE49-F238E27FC236}">
                  <a16:creationId xmlns:a16="http://schemas.microsoft.com/office/drawing/2014/main" id="{C221F988-B686-4D33-8872-B07D3CF80583}"/>
                </a:ext>
              </a:extLst>
            </p:cNvPr>
            <p:cNvSpPr/>
            <p:nvPr/>
          </p:nvSpPr>
          <p:spPr>
            <a:xfrm>
              <a:off x="1600200" y="4849471"/>
              <a:ext cx="2340864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350" b="1" dirty="0"/>
                <a:t>검색우선순위</a:t>
              </a:r>
              <a:br>
                <a:rPr lang="en-US" altLang="ko-KR" sz="1350" b="1" dirty="0"/>
              </a:br>
              <a:r>
                <a:rPr lang="en-US" altLang="ko-KR" sz="1350" b="1" dirty="0"/>
                <a:t>json- </a:t>
              </a:r>
              <a:r>
                <a:rPr lang="en-US" altLang="ko-KR" sz="1350" b="1" dirty="0" err="1"/>
                <a:t>llm</a:t>
              </a:r>
              <a:r>
                <a:rPr lang="en-US" altLang="ko-KR" sz="1350" b="1" dirty="0"/>
                <a:t>- </a:t>
              </a:r>
              <a:r>
                <a:rPr lang="ko-KR" altLang="en-US" sz="1350" b="1" dirty="0"/>
                <a:t>게시판</a:t>
              </a:r>
              <a:endParaRPr lang="en-US" sz="135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6900385F-0C81-4336-A3A1-7EE8326A8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437" y="3962990"/>
            <a:ext cx="2238687" cy="13527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 REQUIREMENTS · OPTIONAL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: 선택 기능 (자율 추가)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085832" cy="8305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ID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O-01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게시판 추가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조회수 표시 · 좋아요 표시(추가/취소) · 검색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O-02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축제 캘린더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조회수 표시, 게시글 제목/내용 기반 검색 기능 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결과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4297680"/>
            <a:ext cx="6858000" cy="1397222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88900" dist="38100" dir="5400000" algn="bl" rotWithShape="0">
              <a:srgbClr val="1A2B3C">
                <a:alpha val="12000"/>
              </a:srgbClr>
            </a:outerShdw>
          </a:effectLst>
        </p:spPr>
      </p:sp>
      <p:pic>
        <p:nvPicPr>
          <p:cNvPr id="7" name="Image 0" descr="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6583680" cy="11229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 요구사항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701417"/>
              </p:ext>
            </p:extLst>
          </p:nvPr>
        </p:nvGraphicFramePr>
        <p:xfrm>
          <a:off x="548640" y="1691640"/>
          <a:ext cx="11000232" cy="14706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요구사항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방안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키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 API 키는 프론트엔드 환경변수(.env, VITE_ 접두사)로 분리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Github 업로드 시 .env 파일이 포함되지 않도록 .gitignore 설정 철저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 체계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별도의 회원가입/로그인 과정 없음 (완전 익명)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비밀번호는 서버가 없으므로 평문으로 브라우저에 저장 및 비교 진행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배포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Netlify와 Github Repository를 연동하여 소스코드 푸시 시 자동 배포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LIVE SCREENS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31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개발 화면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007963" y="1527048"/>
            <a:ext cx="6175768" cy="5221224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27000" dist="50800" dir="5400000" algn="bl" rotWithShape="0">
              <a:srgbClr val="1A2B3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1B2622-DEAB-4885-892C-DB65C714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963" y="2077851"/>
            <a:ext cx="6175768" cy="43328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108960" cy="3108960"/>
          </a:xfrm>
          <a:prstGeom prst="ellipse">
            <a:avLst/>
          </a:prstGeom>
          <a:ln w="16510">
            <a:solidFill>
              <a:srgbClr val="2EC4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651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68680" y="3520440"/>
            <a:ext cx="457200" cy="5486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LocalHub 프로젝트 소개를 들어주셔서 감사합니다.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FF9F1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2331720"/>
            <a:ext cx="1828800" cy="1828800"/>
          </a:xfrm>
          <a:prstGeom prst="ellipse">
            <a:avLst/>
          </a:prstGeom>
          <a:ln w="19050">
            <a:solidFill>
              <a:srgbClr val="2EC4B6"/>
            </a:solidFill>
            <a:prstDash val="solid"/>
          </a:ln>
        </p:spPr>
      </p:sp>
      <p:pic>
        <p:nvPicPr>
          <p:cNvPr id="5" name="Image 0" descr="icons/mess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788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</a:t>
            </a:r>
            <a:r>
              <a:rPr lang="en-US" sz="4800" b="1" dirty="0">
                <a:solidFill>
                  <a:srgbClr val="2EC4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</a:t>
            </a: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의견을 자유롭게 남겨주세요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546</Words>
  <Application>Microsoft Office PowerPoint</Application>
  <PresentationFormat>와이드스크린</PresentationFormat>
  <Paragraphs>160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SSAFY</cp:lastModifiedBy>
  <cp:revision>15</cp:revision>
  <dcterms:created xsi:type="dcterms:W3CDTF">2026-07-16T02:46:23Z</dcterms:created>
  <dcterms:modified xsi:type="dcterms:W3CDTF">2026-07-16T05:19:49Z</dcterms:modified>
</cp:coreProperties>
</file>